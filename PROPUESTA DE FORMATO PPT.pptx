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4.jpg" ContentType="image/jpeg"/>
  <Override PartName="/ppt/media/image5.jpg" ContentType="image/jpeg"/>
  <Override PartName="/ppt/media/image6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64" r:id="rId3"/>
    <p:sldId id="257" r:id="rId4"/>
    <p:sldId id="262" r:id="rId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9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5726-45C5-4108-A7E4-A5D43C85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AB45F-CC28-6699-74B4-2F0FFBE07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67A1A-8355-F7F7-5C9D-CE2B11E66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9268-CD2D-3F55-0358-A84ADE3B3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0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345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240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3926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012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38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188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570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598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808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31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226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635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97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8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40080" y="187452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D3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SUPERVISOR. FELIX ZAVALA TIMANA.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94360" y="22128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500" b="1" noProof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 de Guardia</a:t>
            </a:r>
            <a:endParaRPr lang="es-PE" sz="3500" noProof="0"/>
          </a:p>
        </p:txBody>
      </p:sp>
      <p:sp>
        <p:nvSpPr>
          <p:cNvPr id="6" name="Text 2"/>
          <p:cNvSpPr/>
          <p:nvPr/>
        </p:nvSpPr>
        <p:spPr>
          <a:xfrm>
            <a:off x="640079" y="2999232"/>
            <a:ext cx="2733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y 23 de Agosto 2026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40080" y="3886200"/>
            <a:ext cx="7589520" cy="1325880"/>
          </a:xfrm>
          <a:prstGeom prst="roundRect">
            <a:avLst>
              <a:gd name="adj" fmla="val 4828"/>
            </a:avLst>
          </a:prstGeom>
          <a:solidFill>
            <a:srgbClr val="173A5E">
              <a:alpha val="88000"/>
            </a:srgbClr>
          </a:solidFill>
          <a:ln w="12700">
            <a:solidFill>
              <a:srgbClr val="2B567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4"/>
          <p:cNvSpPr/>
          <p:nvPr/>
        </p:nvSpPr>
        <p:spPr>
          <a:xfrm>
            <a:off x="91440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D3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Talleres supervisados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4434840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Compresión · Generación · Movimiento de suelos / Remoción · Gasfitería, ductos y tanques · Energía / Montaje / Flota / Mecánica / Instrumentación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6272784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oigperu.com</a:t>
            </a:r>
            <a:endParaRPr lang="en-US" sz="1050" dirty="0"/>
          </a:p>
        </p:txBody>
      </p:sp>
      <p:pic>
        <p:nvPicPr>
          <p:cNvPr id="12" name="Google Shape;54;p13">
            <a:extLst>
              <a:ext uri="{FF2B5EF4-FFF2-40B4-BE49-F238E27FC236}">
                <a16:creationId xmlns:a16="http://schemas.microsoft.com/office/drawing/2014/main" id="{62F61344-8BC1-4921-D000-9EBDDBA3E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518" r="11582" b="5603"/>
          <a:stretch/>
        </p:blipFill>
        <p:spPr>
          <a:xfrm>
            <a:off x="1256000" y="1"/>
            <a:ext cx="10936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9;p13">
            <a:extLst>
              <a:ext uri="{FF2B5EF4-FFF2-40B4-BE49-F238E27FC236}">
                <a16:creationId xmlns:a16="http://schemas.microsoft.com/office/drawing/2014/main" id="{CDD3D848-47C1-6098-1DC6-4D02DFC1E5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66" y="449997"/>
            <a:ext cx="1729201" cy="37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25938-C198-9F9E-5C0A-330DAFFB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5.jpg">
            <a:extLst>
              <a:ext uri="{FF2B5EF4-FFF2-40B4-BE49-F238E27FC236}">
                <a16:creationId xmlns:a16="http://schemas.microsoft.com/office/drawing/2014/main" id="{933BEF50-0264-B351-121F-C8B70ECD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"/>
            <a:ext cx="1325880" cy="3200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EE98027-E4BD-7235-ABD2-EE68A60734D8}"/>
              </a:ext>
            </a:extLst>
          </p:cNvPr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E174473B-1CC0-B809-B27D-DFF1397CB208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CFD06CDD-F4BB-75C3-B138-E4D64821CBC9}"/>
              </a:ext>
            </a:extLst>
          </p:cNvPr>
          <p:cNvSpPr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de Guardia | </a:t>
            </a:r>
            <a:r>
              <a:rPr lang="es-PE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</a:t>
            </a: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2026</a:t>
            </a:r>
            <a:endParaRPr lang="es-PE" sz="750" noProof="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BE1DFAA-3AF3-242D-AB64-00382260223B}"/>
              </a:ext>
            </a:extLst>
          </p:cNvPr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51" name="TextBox 50"/>
          <p:cNvSpPr txBox="1"/>
          <p:nvPr/>
        </p:nvSpPr>
        <p:spPr>
          <a:xfrm>
            <a:off x="594360" y="310896"/>
            <a:ext cx="6949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Aptos Display"/>
              </a:rPr>
              <a:t>Seguridad y Medio Ambiente.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935081"/>
            <a:ext cx="3611880" cy="2331720"/>
          </a:xfrm>
          <a:prstGeom prst="roundRect">
            <a:avLst/>
          </a:prstGeom>
          <a:solidFill>
            <a:srgbClr val="102A43"/>
          </a:solidFill>
          <a:ln w="1016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1069848"/>
            <a:ext cx="3246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5DD39E"/>
                </a:solidFill>
                <a:latin typeface="Aptos"/>
              </a:rPr>
              <a:t>Alerta de Seguridad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1316736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Incidente – Caída de varillas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1728216"/>
            <a:ext cx="3246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D8E2EA"/>
                </a:solidFill>
                <a:latin typeface="Aptos"/>
              </a:rPr>
              <a:t>04/09/2026, Patio Base IMI del PERÚ, 11:45hr.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1965960"/>
            <a:ext cx="32461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90" b="0">
                <a:solidFill>
                  <a:srgbClr val="FFFFFF"/>
                </a:solidFill>
                <a:latin typeface="Aptos"/>
              </a:rPr>
              <a:t>¿Qué pasó?
Mientras la unidad vehicular TFH-874 realizaba una maniobra de retroceso con giro de carreta para posicionarse en el lugar destinado a la descarga de varillas, la llanta delantera rozó el extremo de un caballete ubicado en las inmediaciones, provocando la caída de las varillas que se encontraban sobre este hacia el suelo.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88536" y="932688"/>
            <a:ext cx="3611880" cy="2331720"/>
          </a:xfrm>
          <a:prstGeom prst="roundRect">
            <a:avLst/>
          </a:prstGeom>
          <a:solidFill>
            <a:srgbClr val="102A43"/>
          </a:solidFill>
          <a:ln w="1016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71416" y="1069848"/>
            <a:ext cx="3246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5DD39E"/>
                </a:solidFill>
                <a:latin typeface="Aptos"/>
              </a:rPr>
              <a:t>Incidente Ambiental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1416" y="1316736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Incendio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1416" y="1728216"/>
            <a:ext cx="3246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D8E2EA"/>
                </a:solidFill>
                <a:latin typeface="Aptos"/>
              </a:rPr>
              <a:t>05/09/2026 - 11:43 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1416" y="1965960"/>
            <a:ext cx="32461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90" b="0">
                <a:solidFill>
                  <a:srgbClr val="FFFFFF"/>
                </a:solidFill>
                <a:latin typeface="Aptos"/>
              </a:rPr>
              <a:t>A 80 metros del pozo EA805 OR12.
Fuego en maleza a 80 metros del pozo EA805 de la batería OR12, de sur a norte lado izquierdo de la carretera panamericana altura del km 127.
Extinguido y controlado a las 13:30 horas aproximadamente.
Factor externo (ajeno a la operación; sin relación con tendido eléctrico o cables del lote).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65592" y="932688"/>
            <a:ext cx="3611880" cy="2331720"/>
          </a:xfrm>
          <a:prstGeom prst="roundRect">
            <a:avLst/>
          </a:prstGeom>
          <a:solidFill>
            <a:srgbClr val="102A43"/>
          </a:solidFill>
          <a:ln w="1016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48471" y="1069848"/>
            <a:ext cx="3246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5DD39E"/>
                </a:solidFill>
                <a:latin typeface="Aptos"/>
              </a:rPr>
              <a:t>Sustracción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48471" y="1316736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C5 J26 F12 (44x42)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1" y="1728216"/>
            <a:ext cx="3246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D8E2EA"/>
                </a:solidFill>
                <a:latin typeface="Aptos"/>
              </a:rPr>
              <a:t>04/09/2026 - 09:00pm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1" y="1965960"/>
            <a:ext cx="32461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90" b="0">
                <a:solidFill>
                  <a:srgbClr val="FFFFFF"/>
                </a:solidFill>
                <a:latin typeface="Aptos"/>
              </a:rPr>
              <a:t>SUSTRACCIÓN CABLE AUTOPORTANTE DE COBRE/1/2 vano2
POZOS AFECTADOS: EA2394, EA8772, EA8223, EA8469, EA8769, EA8704, EA330, EA8841, EA8216, EA8496, EA1544 (11 pozos) de TA25.</a:t>
            </a:r>
          </a:p>
        </p:txBody>
      </p:sp>
      <p:pic>
        <p:nvPicPr>
          <p:cNvPr id="67" name="Picture 66" descr="_fit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54" y="3511296"/>
            <a:ext cx="3234731" cy="1993392"/>
          </a:xfrm>
          <a:prstGeom prst="rect">
            <a:avLst/>
          </a:prstGeom>
        </p:spPr>
      </p:pic>
      <p:pic>
        <p:nvPicPr>
          <p:cNvPr id="68" name="Picture 67" descr="_fit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805" y="3511296"/>
            <a:ext cx="3325340" cy="1993392"/>
          </a:xfrm>
          <a:prstGeom prst="rect">
            <a:avLst/>
          </a:prstGeom>
        </p:spPr>
      </p:pic>
      <p:pic>
        <p:nvPicPr>
          <p:cNvPr id="69" name="Picture 68" descr="_fit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5053" y="3511296"/>
            <a:ext cx="2672957" cy="19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0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DD39E"/>
                </a:solidFill>
                <a:latin typeface="Aptos"/>
              </a:rPr>
              <a:t>ESTADO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5027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02A43"/>
                </a:solidFill>
                <a:latin typeface="Aptos Display"/>
              </a:rPr>
              <a:t>Resumen</a:t>
            </a:r>
            <a:r>
              <a:rPr sz="2400" b="1" dirty="0">
                <a:solidFill>
                  <a:srgbClr val="102A4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02A43"/>
                </a:solidFill>
                <a:latin typeface="Aptos Display"/>
              </a:rPr>
              <a:t>ejecutivo</a:t>
            </a:r>
            <a:endParaRPr sz="2400" b="1" dirty="0">
              <a:solidFill>
                <a:srgbClr val="102A43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" y="987552"/>
            <a:ext cx="251451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RECIBIDOS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3064"/>
            <a:ext cx="17373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0070C0"/>
                </a:solidFill>
                <a:latin typeface="Apto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5" y="1097280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EJECUTADOS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223064"/>
            <a:ext cx="67665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64DD43"/>
                </a:solidFill>
                <a:latin typeface="Aptos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1069329"/>
            <a:ext cx="758952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64748B"/>
                </a:solidFill>
                <a:latin typeface="Aptos"/>
              </a:rPr>
              <a:t>PENDIENTES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1223064"/>
            <a:ext cx="64922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C000"/>
                </a:solidFill>
                <a:latin typeface="Apto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6025" y="974605"/>
            <a:ext cx="2148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0617" y="1066045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PRODUCCIÓN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0617" y="1230579"/>
            <a:ext cx="822960" cy="484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 dirty="0">
                <a:solidFill>
                  <a:srgbClr val="102A43"/>
                </a:solidFill>
                <a:latin typeface="Aptos"/>
              </a:rPr>
              <a:t>Sábado</a:t>
            </a:r>
            <a:endParaRPr lang="es-ES" sz="850" b="1" dirty="0">
              <a:solidFill>
                <a:srgbClr val="102A43"/>
              </a:solidFill>
              <a:latin typeface="Aptos"/>
            </a:endParaRPr>
          </a:p>
          <a:p>
            <a:r>
              <a:rPr lang="es-PE" sz="850" b="1" dirty="0" err="1">
                <a:solidFill>
                  <a:srgbClr val="102A43"/>
                </a:solidFill>
                <a:latin typeface="Aptos"/>
              </a:rPr>
              <a:t>Bls</a:t>
            </a:r>
            <a:r>
              <a:rPr lang="es-PE" sz="850" b="1" dirty="0">
                <a:solidFill>
                  <a:srgbClr val="102A43"/>
                </a:solidFill>
                <a:latin typeface="Aptos"/>
              </a:rPr>
              <a:t>
</a:t>
            </a:r>
            <a:r>
              <a:rPr lang="es-PE" sz="850" b="1" dirty="0" err="1">
                <a:solidFill>
                  <a:srgbClr val="102A43"/>
                </a:solidFill>
                <a:latin typeface="Aptos"/>
              </a:rPr>
              <a:t>Mpc</a:t>
            </a:r>
            <a:endParaRPr sz="85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8169" y="1230579"/>
            <a:ext cx="822960" cy="484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 dirty="0">
                <a:solidFill>
                  <a:srgbClr val="102A43"/>
                </a:solidFill>
                <a:latin typeface="Aptos"/>
              </a:rPr>
              <a:t>Domingo
Bls
Mpc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6889" y="974605"/>
            <a:ext cx="199339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31481" y="1066045"/>
            <a:ext cx="16642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PROD. PERDIDA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9769" y="1253558"/>
            <a:ext cx="82296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dirty="0" err="1">
                <a:solidFill>
                  <a:srgbClr val="102A43"/>
                </a:solidFill>
                <a:latin typeface="Aptos"/>
              </a:rPr>
              <a:t>Imputado</a:t>
            </a:r>
            <a:r>
              <a:rPr sz="850" b="1" dirty="0">
                <a:solidFill>
                  <a:srgbClr val="102A43"/>
                </a:solidFill>
                <a:latin typeface="Aptos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9769" y="1450606"/>
            <a:ext cx="822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dirty="0" err="1">
                <a:solidFill>
                  <a:srgbClr val="102A43"/>
                </a:solidFill>
                <a:latin typeface="Aptos"/>
              </a:rPr>
              <a:t>Recuperado</a:t>
            </a:r>
            <a:r>
              <a:rPr sz="850" b="1" dirty="0">
                <a:solidFill>
                  <a:srgbClr val="102A43"/>
                </a:solidFill>
                <a:latin typeface="Aptos"/>
              </a:rPr>
              <a:t>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011680"/>
            <a:ext cx="2813617" cy="37769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19456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POR TIPO (49 EJEC.)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578608"/>
            <a:ext cx="13258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10" b="0">
                <a:solidFill>
                  <a:srgbClr val="64748B"/>
                </a:solidFill>
                <a:latin typeface="Aptos"/>
              </a:rPr>
              <a:t>Preventivo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2578608"/>
            <a:ext cx="640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>
                <a:solidFill>
                  <a:srgbClr val="102A43"/>
                </a:solidFill>
                <a:latin typeface="Aptos"/>
              </a:rPr>
              <a:t>06 (11.53%)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743200"/>
            <a:ext cx="1508760" cy="41148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2743200"/>
            <a:ext cx="173960" cy="41148"/>
          </a:xfrm>
          <a:prstGeom prst="rect">
            <a:avLst/>
          </a:prstGeom>
          <a:solidFill>
            <a:srgbClr val="5D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2971800"/>
            <a:ext cx="13258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10" b="0">
                <a:solidFill>
                  <a:srgbClr val="64748B"/>
                </a:solidFill>
                <a:latin typeface="Aptos"/>
              </a:rPr>
              <a:t>Corr. No Prog.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9192" y="2971800"/>
            <a:ext cx="640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>
                <a:solidFill>
                  <a:srgbClr val="102A43"/>
                </a:solidFill>
                <a:latin typeface="Aptos"/>
              </a:rPr>
              <a:t>41 (78.84%)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136392"/>
            <a:ext cx="1508760" cy="41148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3136392"/>
            <a:ext cx="1189506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364991"/>
            <a:ext cx="13258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10" b="0">
                <a:solidFill>
                  <a:srgbClr val="64748B"/>
                </a:solidFill>
                <a:latin typeface="Aptos"/>
              </a:rPr>
              <a:t>Soporte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9192" y="3364991"/>
            <a:ext cx="640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>
                <a:solidFill>
                  <a:srgbClr val="102A43"/>
                </a:solidFill>
                <a:latin typeface="Aptos"/>
              </a:rPr>
              <a:t>05 (9.62%)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529584"/>
            <a:ext cx="1508760" cy="41148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" y="3529584"/>
            <a:ext cx="145142" cy="41148"/>
          </a:xfrm>
          <a:prstGeom prst="rect">
            <a:avLst/>
          </a:prstGeom>
          <a:solidFill>
            <a:srgbClr val="23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758183"/>
            <a:ext cx="13258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10" b="0">
                <a:solidFill>
                  <a:srgbClr val="64748B"/>
                </a:solidFill>
                <a:latin typeface="Aptos"/>
              </a:rPr>
              <a:t>Sustracción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9192" y="3758183"/>
            <a:ext cx="640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>
                <a:solidFill>
                  <a:srgbClr val="102A43"/>
                </a:solidFill>
                <a:latin typeface="Aptos"/>
              </a:rPr>
              <a:t>00 (0.00%)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922775"/>
            <a:ext cx="1508760" cy="41148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128515"/>
            <a:ext cx="2331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POR TALLER (52 EJEC.)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379976"/>
            <a:ext cx="17373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1">
                <a:solidFill>
                  <a:srgbClr val="64748B"/>
                </a:solidFill>
                <a:latin typeface="Aptos"/>
              </a:rPr>
              <a:t>TALLER DE SERVICIO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93492" y="4379976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20" b="1" dirty="0">
                <a:solidFill>
                  <a:srgbClr val="64748B"/>
                </a:solidFill>
                <a:latin typeface="Aptos"/>
              </a:rPr>
              <a:t>CANT.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" y="4530852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 err="1">
                <a:solidFill>
                  <a:srgbClr val="102A43"/>
                </a:solidFill>
                <a:latin typeface="Aptos"/>
              </a:rPr>
              <a:t>Instrumentación</a:t>
            </a:r>
            <a:endParaRPr sz="680" b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79192" y="4549139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 dirty="0">
                <a:solidFill>
                  <a:srgbClr val="102A43"/>
                </a:solidFill>
                <a:latin typeface="Apto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5" y="4702301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>
                <a:solidFill>
                  <a:srgbClr val="102A43"/>
                </a:solidFill>
                <a:latin typeface="Aptos"/>
              </a:rPr>
              <a:t>Energía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9192" y="4710096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>
                <a:solidFill>
                  <a:srgbClr val="102A43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5" y="4869178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 err="1">
                <a:solidFill>
                  <a:srgbClr val="102A43"/>
                </a:solidFill>
                <a:latin typeface="Aptos"/>
              </a:rPr>
              <a:t>Montaje</a:t>
            </a:r>
            <a:endParaRPr sz="680" b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11195" y="4863834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 dirty="0">
                <a:solidFill>
                  <a:srgbClr val="102A43"/>
                </a:solidFill>
                <a:latin typeface="Aptos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5045520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 err="1">
                <a:solidFill>
                  <a:srgbClr val="102A43"/>
                </a:solidFill>
                <a:latin typeface="Aptos"/>
              </a:rPr>
              <a:t>Mecánica</a:t>
            </a:r>
            <a:endParaRPr sz="680" b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13844" y="5056794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 dirty="0">
                <a:solidFill>
                  <a:srgbClr val="102A43"/>
                </a:solidFill>
                <a:latin typeface="Apto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703" y="5223700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 err="1">
                <a:solidFill>
                  <a:srgbClr val="102A43"/>
                </a:solidFill>
                <a:latin typeface="Aptos"/>
              </a:rPr>
              <a:t>Gasfitería</a:t>
            </a:r>
            <a:endParaRPr sz="680" b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711195" y="5223700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 dirty="0">
                <a:solidFill>
                  <a:srgbClr val="102A43"/>
                </a:solidFill>
                <a:latin typeface="Aptos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5" y="5389704"/>
            <a:ext cx="16916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 dirty="0" err="1">
                <a:solidFill>
                  <a:srgbClr val="102A43"/>
                </a:solidFill>
                <a:latin typeface="Aptos"/>
              </a:rPr>
              <a:t>Otros</a:t>
            </a:r>
            <a:endParaRPr sz="680" b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11195" y="5386368"/>
            <a:ext cx="4572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80" b="1" dirty="0">
                <a:solidFill>
                  <a:srgbClr val="102A43"/>
                </a:solidFill>
                <a:latin typeface="Aptos"/>
              </a:rPr>
              <a:t>11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22191" y="2011680"/>
            <a:ext cx="775411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41648" y="2177832"/>
            <a:ext cx="3657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 err="1">
                <a:solidFill>
                  <a:srgbClr val="102A43"/>
                </a:solidFill>
                <a:latin typeface="Aptos"/>
              </a:rPr>
              <a:t>Actividades</a:t>
            </a:r>
            <a:r>
              <a:rPr sz="14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02A43"/>
                </a:solidFill>
                <a:latin typeface="Aptos"/>
              </a:rPr>
              <a:t>relevantes</a:t>
            </a:r>
            <a:r>
              <a:rPr lang="es-ES" sz="1400" b="1" dirty="0">
                <a:solidFill>
                  <a:srgbClr val="102A43"/>
                </a:solidFill>
                <a:latin typeface="Aptos"/>
              </a:rPr>
              <a:t>:</a:t>
            </a:r>
            <a:endParaRPr sz="14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822191" y="4590288"/>
            <a:ext cx="7754112" cy="1490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041648" y="4756440"/>
            <a:ext cx="3657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 err="1">
                <a:solidFill>
                  <a:srgbClr val="102A43"/>
                </a:solidFill>
                <a:latin typeface="Aptos"/>
              </a:rPr>
              <a:t>Pendientes</a:t>
            </a:r>
            <a:r>
              <a:rPr sz="1400" b="1" dirty="0">
                <a:solidFill>
                  <a:srgbClr val="102A43"/>
                </a:solidFill>
                <a:latin typeface="Aptos"/>
              </a:rPr>
              <a:t> (</a:t>
            </a:r>
            <a:r>
              <a:rPr sz="1400" b="1" dirty="0" err="1">
                <a:solidFill>
                  <a:srgbClr val="102A43"/>
                </a:solidFill>
                <a:latin typeface="Aptos"/>
              </a:rPr>
              <a:t>relevantes</a:t>
            </a:r>
            <a:r>
              <a:rPr sz="1400" b="1" dirty="0">
                <a:solidFill>
                  <a:srgbClr val="102A43"/>
                </a:solidFill>
                <a:latin typeface="Aptos"/>
              </a:rPr>
              <a:t>)</a:t>
            </a:r>
            <a:r>
              <a:rPr lang="es-ES" sz="1400" b="1" dirty="0">
                <a:solidFill>
                  <a:srgbClr val="102A43"/>
                </a:solidFill>
                <a:latin typeface="Aptos"/>
              </a:rPr>
              <a:t>:</a:t>
            </a:r>
            <a:endParaRPr sz="1400" b="1" dirty="0">
              <a:solidFill>
                <a:srgbClr val="102A43"/>
              </a:solidFill>
              <a:latin typeface="Aptos"/>
            </a:endParaRPr>
          </a:p>
        </p:txBody>
      </p:sp>
      <p:pic>
        <p:nvPicPr>
          <p:cNvPr id="61" name="Image 0" descr="/mnt/data/pptx_unzip/ppt/media/image5.jpg">
            <a:extLst>
              <a:ext uri="{FF2B5EF4-FFF2-40B4-BE49-F238E27FC236}">
                <a16:creationId xmlns:a16="http://schemas.microsoft.com/office/drawing/2014/main" id="{1BD47F69-F1D7-6875-8B64-67C96CF97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"/>
            <a:ext cx="13258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059680" y="0"/>
            <a:ext cx="713232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3130711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3000" b="1" noProof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Gracias</a:t>
            </a:r>
            <a:endParaRPr lang="es-PE" sz="3000" noProof="0"/>
          </a:p>
        </p:txBody>
      </p:sp>
      <p:sp>
        <p:nvSpPr>
          <p:cNvPr id="15" name="Text 11"/>
          <p:cNvSpPr/>
          <p:nvPr/>
        </p:nvSpPr>
        <p:spPr>
          <a:xfrm>
            <a:off x="658368" y="6327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oigperu.com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1282</TotalTime>
  <Words>356</Words>
  <Application>Microsoft Office PowerPoint</Application>
  <PresentationFormat>Panorámica</PresentationFormat>
  <Paragraphs>68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OIG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Fiscalización de Contratos - Energía - Junio 2026 - versión mejorada</dc:title>
  <dc:subject>Fiscalización de Contratos - Energía - Junio 2026</dc:subject>
  <dc:creator>OpenAI</dc:creator>
  <cp:lastModifiedBy>Practicante Mantenimiento</cp:lastModifiedBy>
  <cp:revision>55</cp:revision>
  <dcterms:created xsi:type="dcterms:W3CDTF">2026-06-23T13:51:09Z</dcterms:created>
  <dcterms:modified xsi:type="dcterms:W3CDTF">2026-09-18T14:50:57Z</dcterms:modified>
</cp:coreProperties>
</file>